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828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Portfolio Analysis with Options Overlay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1188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Quantitative Mentorship  |  Final Project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1508760"/>
            <a:ext cx="27432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6184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" y="184708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large-cap equities + ETFs (Yahoo Finance)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calibration: 2020-04-01 to 2025-03-31  (1,255 days)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1-yr current:     2025-04-01 to 2026-03-31  (250 days)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(^IRX, 13-wk T-Bill): 4.20%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$403.43  |  mu = 29.95%  |  sigma = 16.68%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8346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2880" y="306324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GBM: 5,000 correlated paths (Cholesky)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 (gamma=0.75): leverage effect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Merton: jumps  lambda=1.5  mu_J=-0.05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Heston: SPY-calibrated stoch. vol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Overlay: covered calls / puts / collars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4096512"/>
            <a:ext cx="292608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4160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71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" y="43891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options overlay improves CVaR from -6.97% (buy &amp; hold) to +1.27% (best strategy). Covered calls dominate in the high-drift, high-IV environment: the 2% OTM call alone raises Sharpe from 1.263 to 2.195.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7160" y="5577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clustering avg run = 19 days  |  Top corr: SPY-NVDA 0.77  |  Heston RMSE = $13.25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9144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Volatility Clustering (fig. 6 from notebook)</a:t>
            </a:r>
            <a:endParaRPr lang="en-US" sz="8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612648"/>
            <a:ext cx="4206240" cy="13898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337560" y="20299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57/229 high-vol days, avg run = 19 days. Vol not constant over time.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726680" y="3840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GBM/CEV/Merton Terminal Distributions (fig. 11)</a:t>
            </a:r>
            <a:endParaRPr lang="en-US" sz="8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612648"/>
            <a:ext cx="4251960" cy="13898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726680" y="20299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Merton P5=$368.92 vs GBM P5=$405.16. Fat tails inflate put premiums.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3337560" y="2322576"/>
            <a:ext cx="8641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37560" y="23957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Portfolio Value: 3 Strategies (fig. 17)</a:t>
            </a:r>
            <a:endParaRPr lang="en-US" sz="8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24328"/>
            <a:ext cx="4754880" cy="1508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3756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(orange) accumulates premium step-wise. Best Strategy (red) switches CC -&gt; collar -&gt; puts over 12 rolls.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8275320" y="23957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Risk: VaR, CVaR, Max Drawdown (fig. 19)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2624328"/>
            <a:ext cx="3703320" cy="1508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75320" y="41605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CVaR: B&amp;H=-6.97%  CC=+17.65%  Best=+1.27%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3337560" y="4462272"/>
            <a:ext cx="8641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337560" y="453542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Return Distributions (fig. 20)</a:t>
            </a:r>
            <a:endParaRPr lang="en-US" sz="8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4764024"/>
            <a:ext cx="4937760" cy="12618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337560" y="60533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VaR5%: B&amp;H=-0.38%  CC=+25.35%  Best=+8.44%  (positive = floor from premium income)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8458200" y="45354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/ Sortino / Calmar (fig. 18)</a:t>
            </a:r>
            <a:endParaRPr lang="en-US" sz="8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764024"/>
            <a:ext cx="3520440" cy="12618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58200" y="6053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Sortino: B&amp;H=5.48  CC=16.76  Best=10.32  |  Calmar (Best only)=35.80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2026-04-22T23:34:33Z</dcterms:created>
  <dcterms:modified xsi:type="dcterms:W3CDTF">2026-04-22T23:34:33Z</dcterms:modified>
</cp:coreProperties>
</file>